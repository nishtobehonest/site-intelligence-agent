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claude" TargetMode="External"/><Relationship Id="rId3" Type="http://schemas.openxmlformats.org/officeDocument/2006/relationships/hyperlink" Target="https://arxiv.org/abs/2005.11401" TargetMode="External"/><Relationship Id="rId7" Type="http://schemas.openxmlformats.org/officeDocument/2006/relationships/hyperlink" Target="https://arxiv.org/abs/2004.0490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sha.gov/enforcement/directives/cpl-02-00-164" TargetMode="External"/><Relationship Id="rId5" Type="http://schemas.openxmlformats.org/officeDocument/2006/relationships/hyperlink" Target="https://www.osha.gov/laws-regs/regulations/standardnumber/1910/1910.147" TargetMode="External"/><Relationship Id="rId4" Type="http://schemas.openxmlformats.org/officeDocument/2006/relationships/hyperlink" Target="https://arxiv.org/abs/2312.10997" TargetMode="External"/><Relationship Id="rId9" Type="http://schemas.openxmlformats.org/officeDocument/2006/relationships/hyperlink" Target="https://arxiv.org/abs/1908.100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</a:rPr>
              <a:t>Cornell · April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11680" y="45720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457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Team TBH-20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84124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1F5F9"/>
                </a:solidFill>
              </a:rPr>
              <a:t>Field Service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1F5F9"/>
                </a:solidFill>
              </a:rPr>
              <a:t>Intelligence Assistant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 RAG-Based Context Retrieval System for Frontline Field Workers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</a:rPr>
              <a:t>"Field technicians make safety-critical decisions with the wrong information.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</a:rPr>
              <a:t>We fix the retrieval and trust problem — not just the data problem."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777240"/>
            <a:ext cx="2423160" cy="269748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77724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Field technician on-site (tablet / equipment) 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</a:rPr>
              <a:t>Nishchay Vishwanath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nv268 · RAG pipeline, demo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</a:rPr>
              <a:t>Dhruvil Matalia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dm973 · Data collection, ingestion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</a:rPr>
              <a:t>Harshita Sahni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hs2288 · Evaluation, ground truth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81381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The Business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THE GAP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4023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Field technicians (HVAC, electrical, plumbing) make high-stakes decisions under time pressure. The data they need exists — manuals, OSHA docs, past job records — but is scattered across binders in the truck and CRMs back at the office.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40233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45720" cy="5029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91363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This is NOT a data availability problem.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It is a retrieval and trust problem.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WHO IT AFFECTS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402336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Technicians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00200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Work from incomplete info, risk errors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2336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Dispatchers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30175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Overwhelmed with avoidable escalations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355848"/>
            <a:ext cx="402336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Companies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3401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Liability, safety violations, wasted 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621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CURRENT STATE VS. TARGET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0560" y="859536"/>
            <a:ext cx="43891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F87171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914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TODAY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1170432"/>
            <a:ext cx="4114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Technician has a question on-site → calls office → dispatcher searches binders / CRM → calls back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70992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Resolution time:  4 – 12 minutes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029968"/>
            <a:ext cx="43891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2084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</a:rPr>
              <a:t>WITH THIS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2340864"/>
            <a:ext cx="4114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Technician queries assistant on-site → cited answer with confidence rating returned instantly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288036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</a:rPr>
              <a:t>Resolution time:  under 8 seconds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3218688"/>
            <a:ext cx="4389120" cy="141732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0" y="3218688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Side-by-side: technician calling office vs. using mobile app 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The AI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WHY AI?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4023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Too many documents, too many versions, too many cross-references to do manually at scale. A technician cannot cross-reference OSHA 1910.147, a 2019 vs. 2023 Carrier manual, and 50 past job records in real time. AI can.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WHY NOT JUST PROMPT CHATGPT?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• </a:t>
            </a:r>
            <a:r>
              <a:rPr lang="en-US" sz="950" dirty="0">
                <a:solidFill>
                  <a:srgbClr val="CBD5E1"/>
                </a:solidFill>
              </a:rPr>
              <a:t>No access to proprietary job history or equipment records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2951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• </a:t>
            </a:r>
            <a:r>
              <a:rPr lang="en-US" sz="950" dirty="0">
                <a:solidFill>
                  <a:srgbClr val="CBD5E1"/>
                </a:solidFill>
              </a:rPr>
              <a:t>No source citations — no way to verify the answer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• </a:t>
            </a:r>
            <a:r>
              <a:rPr lang="en-US" sz="950" dirty="0">
                <a:solidFill>
                  <a:srgbClr val="CBD5E1"/>
                </a:solidFill>
              </a:rPr>
              <a:t>No confidence routing — answers even when it should escalate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• </a:t>
            </a:r>
            <a:r>
              <a:rPr lang="en-US" sz="950" dirty="0">
                <a:solidFill>
                  <a:srgbClr val="CBD5E1"/>
                </a:solidFill>
              </a:rPr>
              <a:t>Hallucination risk on technical specs (wrong refrigerant pressure = danger)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621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WHY RAG?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859536"/>
            <a:ext cx="438912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859536"/>
            <a:ext cx="45720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859536"/>
            <a:ext cx="4279392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Retrieval-Augmented Generation grounds the model's output in retrieved, citable documents — not parametric memory. The corpus is the source of truth.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1627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DATA SOURCES (ALL FEASIBLE)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0560" y="1856232"/>
            <a:ext cx="438912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901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OSHA 29 CFR 1910 docs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06640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DE80"/>
                </a:solidFill>
              </a:rPr>
              <a:t>US public domain 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2240280"/>
            <a:ext cx="438912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Carrier / Trane / Lennox manuals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06640" y="2286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DE80"/>
                </a:solidFill>
              </a:rPr>
              <a:t>Manufacturer websites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2624328"/>
            <a:ext cx="4389120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Synthetic job history (50+ records)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06640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DE80"/>
                </a:solidFill>
              </a:rPr>
              <a:t>Generated via Claude API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3035808"/>
            <a:ext cx="43891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0" y="3035808"/>
            <a:ext cx="4572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035808"/>
            <a:ext cx="42793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 real PII used. All job records use fictional site IDs, equipment IDs, and technician notes.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4023360" cy="141732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3375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RAG architecture diagram: query → embeddings → vector DB → LLM → answer 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Evaluation — "Moving Fast Without Breaking Trust"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85039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5720" cy="548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8394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"We don't use a pilot group — we can't scale that. Instead, we stress-test every failure mode before any human touches it."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52728"/>
          <a:ext cx="8503920" cy="1280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Eval Set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What It Tests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Why It Matters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Ground truth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50 Q&amp;A pairs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Factual accuracy + coverage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Baseline: does it answer correctly?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Adversarial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20 prompts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Hallucination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</a:rPr>
                        <a:t>MOST CRITICAL — correct behavior is escalation, not fabrication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Contradiction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15 scenarios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PARTIAL routing fires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Does it surface both conflicting sources?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269748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7171"/>
                </a:solidFill>
              </a:rPr>
              <a:t>&lt; 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1480" y="30266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Hallucination rate target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468880" y="269748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6032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ADE80"/>
                </a:solidFill>
              </a:rPr>
              <a:t>&gt; 80%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560320" y="30266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Coverage rate target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17720" y="269748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0916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ACC15"/>
                </a:solidFill>
              </a:rPr>
              <a:t>10–25%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09160" y="30266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Escalation rate (not minimized)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66560" y="269748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ADE80"/>
                </a:solidFill>
              </a:rPr>
              <a:t>&gt; 90%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30266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Source precision target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0040" y="3438144"/>
            <a:ext cx="850392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0040" y="3438144"/>
            <a:ext cx="45720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1480" y="3438144"/>
            <a:ext cx="83941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Why escalation rate has a floor: An AI that never escalates is hiding its uncertainty. Below 10% = overconfident. Design for calibrated confidence, not maximum answers.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3977640"/>
            <a:ext cx="850392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0040" y="39776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Eval funnel diagram: 85 test cases across 3 failure-mode categories 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Consistency Testing · A/B Design · Preference Optimization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CONSISTENCY TESTING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Same 5 queries (one per equipment type) run 3× in independent sessions. Semantic similarity measured between outputs.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Target: &lt;15% variance on factual queries. High variance triggers a retrieval audit.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26974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5720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587752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GenAI equivalent of residual analysis — catches instability before a user does.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18688" y="6217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A/B TEST DESIGN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18688" y="85953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</a:rPr>
              <a:t>Variant A: Answer + citations only. No confidence label.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18688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Variant B: Answer + HIGH / PARTIAL / LOW + explicit uncertainty language.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18688" y="2103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Hypothesis: Surfacing uncertainty increases appropriate reliance. Technicians decide better when to act vs. escalate.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2770632"/>
            <a:ext cx="26974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2770632"/>
            <a:ext cx="45720" cy="65836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2770632"/>
            <a:ext cx="2587752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Grounded in human factors research on calibrated AI reliance.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17336" y="6217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PREFERENCE OPTIMIZATION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17336" y="85953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Every dispatcher override is logged: query, system answer, override reason code.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17336" y="1481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These logs become preference pairs for DPO fine-tuning on Llama 3 70B in v2.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2148840"/>
            <a:ext cx="26974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17336" y="2148840"/>
            <a:ext cx="45720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08776" y="2148840"/>
            <a:ext cx="2587752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We're building the feedback loop from day one — not retrofitting it.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 eval framework today is the training data pipeline for the next model version.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658368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9319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Feedback loop diagram: dispatcher override logs → preference pairs → DPO → v2 model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Architecture — The Four-Layer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71500" y="621792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667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Layer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1500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Retrieval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" y="115214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Embed query → top-5 per collection via cosine similarity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00300" y="621792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28900" y="621792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28900" y="667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Layer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28900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Confidence Scoring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83764" y="115214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HIGH / PARTIAL / LOW based on score + conflict detection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57700" y="621792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86300" y="621792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86300" y="667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Layer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86300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Graceful Degradation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1164" y="115214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Route to one of 3 response strategies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15100" y="621792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43700" y="621792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43700" y="667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Layer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43700" y="886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LLM Generation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8564" y="115214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Claude 3.5 Sonnet — only called for HIGH &amp; PARTIAL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55648"/>
          <a:ext cx="8503920" cy="11704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Confidence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Threshold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Response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Top similarity &gt; 0.75, no conflict detected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Cited answer delivered to technician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ACC15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0.50 – 0.75 OR two sources conflict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Answer + conflict warning + both sources surfaced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&lt; 0.50 OR zero results returned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Skip LLM entirely → escalation message generated programmatically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3090672"/>
            <a:ext cx="850392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20040" y="3090672"/>
            <a:ext cx="45720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1480" y="3090672"/>
            <a:ext cx="83941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Why 3 separate Chroma collections (osha, manuals, job_history)? Source-aware retrieval enables conflict detection between sources. One combined collection loses that signal.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3675888"/>
            <a:ext cx="850392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0040" y="367588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Pipeline flow diagram: query box → 3 Chroma collections → confidence scorer → router → LLM / escalation 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What's in Context · Memory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CONTEXT WINDOW PER QUERY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5953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05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System prompt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9052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Versioned, documented — cite source, no fabrication, safety flags, scope boundary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Retrieved chunks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45389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Up to 15 chunks (top-5 per collection) with doc name, collection, similarity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5681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0025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Technician query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200253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Structured: job type + equipment ID + natural language question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6517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THREE DEMO QUERIES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16052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953512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53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Lockout/tagout procedure for Carrier RTU-48XL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319272"/>
            <a:ext cx="416052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392424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392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ACC15"/>
                </a:solidFill>
              </a:rPr>
              <a:t>PARTIAL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Refrigerant charge pressure — 2019 vs. 2023 manual conflict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758184"/>
            <a:ext cx="416052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831336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831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</a:rPr>
              <a:t>LOW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Job history for nonexistent ID HVAC-SITE07-UNIT-99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FOUR MEMORY TYPES — ALL ACCOUNTED FOR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85953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9052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Working (in-context)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9052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Retrieved chunks — ephemeral, per-query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0817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4538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Institutional (long-term)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14538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job_history collection — retrieved on demand, never forgotten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95681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0025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Semantic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200253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osha + manuals collections — procedural &amp; factual knowledge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505456"/>
            <a:ext cx="4160520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5511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Episodic / Session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25511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Stateless in v1. V2: session log for continuity across a job.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090672"/>
            <a:ext cx="41605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3090672"/>
            <a:ext cx="45720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090672"/>
            <a:ext cx="40507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 job_history collection is the AI equivalent of institutional memory — replacing the knowledge that walks out the door when an experienced technician retires.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749040"/>
            <a:ext cx="4160520" cy="86868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63440" y="37490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Memory architecture diagram: 4 memory types mapped to Chroma collections 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Guardrails · AI Concept Map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FOUR GUARDRAILS (EVERY RESPONSE)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59536"/>
            <a:ext cx="41605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05256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</a:rPr>
              <a:t>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905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Citation requirement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10642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No response without source doc + collection + relevance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41605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472184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</a:rPr>
              <a:t>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1472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Hallucination prevention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167335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System prompt: "If uncertain, say so. Do not fabricate procedures."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93392"/>
            <a:ext cx="41605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03911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</a:rPr>
              <a:t>3.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039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Safety flagging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2402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Electrical / refrigerant answers get an additional warning regardless of confidence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41605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60604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</a:rPr>
              <a:t>4.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Scope boundary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280720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Off-topic queries get a graceful decline, not a hallucinated answer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45536"/>
            <a:ext cx="41605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145536"/>
            <a:ext cx="45720" cy="5029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145536"/>
            <a:ext cx="4050792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In safety-critical contexts, a confident wrong answer is more dangerous than an unnecessary escalation. The system is calibrated accordingly.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WHERE EACH REQUIRED CONCEPT LIVES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85953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950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RAG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Core architecture — retrieval grounds generation in citable docs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85953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950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Memories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job_history = institutional; osha/manuals = semantic; stateless in v1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81965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Skills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Graceful degradation = skill-like decision layer selecting response strategy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66560" y="181965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Tools &amp; MCP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V2 roadmap: MCP server for live CMMS queries replaces static job history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77977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Fine-tuning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Not in v1. V2: DPO on Llama 3 70B once 10k dispatcher pairs accumulated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66560" y="2779776"/>
            <a:ext cx="20116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Pref. Optimization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Override logs → preference pairs → DPO training data pipeline (from day one)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Cost Model — 100 Users on Claude API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ASSUMPTIONS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59536"/>
          <a:ext cx="4160520" cy="217627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Parameter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Technicians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Queries / day / user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Working days / year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Total queries / year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250,000 (~685/day)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LOW-routed (LLM skipped)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~30%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Effective LLM queries / day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~480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MONTHLY COST BREAKDOWN</a:t>
            </a:r>
            <a:endParaRPr lang="en-US" sz="8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59536"/>
          <a:ext cx="4160520" cy="217627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Component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Est. /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Claude input (2k tokens avg × 480/day × $3/1M)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Claude output (300 tokens avg × 480/day × $15/1M)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Chroma vector DB (local)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Embedding model (local CPU)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Hosting (cloud VM)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~$75–100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Total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~$280–350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33756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411480" y="3383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A5FA"/>
                </a:solidFill>
              </a:rPr>
              <a:t>~$3.20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11480" y="3666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Per user / month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331720" y="3337560"/>
            <a:ext cx="18745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423160" y="3383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ADE80"/>
                </a:solidFill>
              </a:rPr>
              <a:t>$0.035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23160" y="3666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Per query (all-in)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343400" y="3218688"/>
            <a:ext cx="4480560" cy="141732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343400" y="321868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Bar chart: monthly cost breakdown by component 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Claude vs. Llama 3 70B — Break-Even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21792"/>
          <a:ext cx="8503920" cy="19751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Claude 3.5 Sonnet (API)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Llama 3 70B (Self-hosted)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Per-query cost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~$0.035 / query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~$0 after infrastructure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Infrastructure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~$1,500–2,000 / month (GPU server)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Fine-tuning required?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No — works out of the box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Yes — ~$2,000–5,000 one-time for domain quality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Vendor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API dependency, rate limits at scale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None — fully on-premises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Break-even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ACC15"/>
                          </a:solidFill>
                        </a:rPr>
                        <a:t>~55,000–60,000 queries / month (≈ 550 users)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834640"/>
            <a:ext cx="41605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2834640"/>
            <a:ext cx="45720" cy="457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4050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Under ~500 users: Claude API wins on simplicity and total cost.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2834640"/>
            <a:ext cx="41605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834640"/>
            <a:ext cx="4572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8"/>
          <p:cNvSpPr/>
          <p:nvPr/>
        </p:nvSpPr>
        <p:spPr>
          <a:xfrm>
            <a:off x="4754880" y="2834640"/>
            <a:ext cx="405079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At scale (&gt;500 users): Llama 3 70B self-hosted with DPO fine-tuning wins. Migration = one environment variable change — model-agnostic by design.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3419856"/>
            <a:ext cx="8503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Strategic path: Launch on Claude → accumulate dispatcher override pairs → fine-tune Llama 3 70B at 500+ users → DPO drops per-query cost by 10–20×.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3767328"/>
            <a:ext cx="850392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376732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Break-even chart: Claude API cost vs. Llama self-hosted cost as user count scales 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Revenue Model · Key Tradeoffs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|  April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REVENUE OPTIONS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59536"/>
          <a:ext cx="4160520" cy="1280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Pricing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Margin @ 100 users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SaaS per-seat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$15–25 / user / mo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</a:rPr>
                        <a:t>~75–80%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Per-query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$0.05 / query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Scales with usage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Enterprise license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Flat fee / fleet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Predictable revenue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23591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KEY TRADEOFFS</a:t>
            </a:r>
            <a:endParaRPr lang="en-US" sz="8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87752"/>
          <a:ext cx="4160520" cy="17190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Tradeoff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Decision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Precision vs. escalation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Tune conservatively; relax as trust builds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Corpus freshness vs. cost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Quarterly re-ingestion cadence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API dependency vs. on-prem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Model-agnostic design hedges vendor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Fine-tuning ROI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DPO at 10k pairs → 10–20× cost reduction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621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CORE BUSINESS THESIS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63440" y="859536"/>
            <a:ext cx="416052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63440" y="859536"/>
            <a:ext cx="45720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8"/>
          <p:cNvSpPr/>
          <p:nvPr/>
        </p:nvSpPr>
        <p:spPr>
          <a:xfrm>
            <a:off x="4754880" y="859536"/>
            <a:ext cx="40507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field service company paying $3.50 / user / month to reduce safety incidents, cut resolution time from 10 minutes to 8 seconds, and eliminate 20% of dispatcher escalations has a very clear ROI.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1865376"/>
            <a:ext cx="4160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63440" y="1865376"/>
            <a:ext cx="45720" cy="777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754880" y="1865376"/>
            <a:ext cx="40507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 calibrated uncertainty routing — knowing when NOT to answer — is the differentiating feature, not a limitation. It is why this system can be trusted in a safety-critical context.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2743200"/>
            <a:ext cx="4160520" cy="1645920"/>
          </a:xfrm>
          <a:prstGeom prst="rect">
            <a:avLst/>
          </a:prstGeom>
          <a:solidFill>
            <a:srgbClr val="1A2740"/>
          </a:solidFill>
          <a:ln w="1270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63440" y="274320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A5FA"/>
                </a:solidFill>
              </a:rPr>
              <a:t>[ IMAGE: ROI comparison: system cost vs. labor savings from avoided escalations 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</a:rPr>
              <a:t>Sources &amp; References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TBH-20  |  Cornell  |  April 2026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3192" y="713232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713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[1]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6949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Lewis, P., Perez, E., Piktus, A., et al. (2020). Retrieval-Augmented Generation for Knowledge-Intensive NLP Tasks. NeurIPS 2020.</a:t>
            </a:r>
            <a:endParaRPr lang="en-US" sz="85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777240" y="11155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1316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Foundational RAG paper; cited for architecture decision, chunking rationale, three-collection design.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36592" y="713232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713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[2]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20640" y="6949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Gao, Y., Xiong, Y., Gao, X., et al. (2023). Retrieval-Augmented Generation for Large Language Models: A Survey. arXiv.</a:t>
            </a:r>
            <a:endParaRPr lang="en-US" sz="85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5120640" y="11155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https://arxiv.org/abs/2312.10997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20640" y="1316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Cited for chunk size decision (500 tokens / 50 overlap), prompt sensitivity monitoring approach.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1700784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" y="1792224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1792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[3]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17739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U.S. OSHA. (2024). 29 CFR 1910.147: The Control of Hazardous Energy (Lockout/Tagout). U.S. Department of Labor.</a:t>
            </a:r>
            <a:endParaRPr lang="en-US" sz="850" dirty="0"/>
          </a:p>
        </p:txBody>
      </p:sp>
      <p:sp>
        <p:nvSpPr>
          <p:cNvPr id="21" name="Text 19">
            <a:hlinkClick r:id="rId5"/>
          </p:cNvPr>
          <p:cNvSpPr/>
          <p:nvPr/>
        </p:nvSpPr>
        <p:spPr>
          <a:xfrm>
            <a:off x="777240" y="21945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https://www.osha.gov/laws-regs/regulations/standardnumber/1910/1910.147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7240" y="2395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Primary OSHA corpus source; U.S. government public domain.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1700784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1792224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1792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[4]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20640" y="177393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U.S. OSHA. (2024). Field Operations Manual (FOM). CPL 02-00-164.</a:t>
            </a:r>
            <a:endParaRPr lang="en-US" sz="850" dirty="0"/>
          </a:p>
        </p:txBody>
      </p:sp>
      <p:sp>
        <p:nvSpPr>
          <p:cNvPr id="27" name="Text 25">
            <a:hlinkClick r:id="rId6"/>
          </p:cNvPr>
          <p:cNvSpPr/>
          <p:nvPr/>
        </p:nvSpPr>
        <p:spPr>
          <a:xfrm>
            <a:off x="5120640" y="21945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https://www.osha.gov/enforcement/directives/cpl-02-00-164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20640" y="2395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Secondary OSHA corpus source; field inspection procedures.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2779776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3192" y="2871216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28712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[5]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24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Karpukhin, V., Oguz, B., Min, S., et al. (2020). Dense Passage Retrieval for Open-Domain Question Answering. EMNLP 2020.</a:t>
            </a:r>
            <a:endParaRPr lang="en-US" sz="850" dirty="0"/>
          </a:p>
        </p:txBody>
      </p:sp>
      <p:sp>
        <p:nvSpPr>
          <p:cNvPr id="33" name="Text 31">
            <a:hlinkClick r:id="rId7"/>
          </p:cNvPr>
          <p:cNvSpPr/>
          <p:nvPr/>
        </p:nvSpPr>
        <p:spPr>
          <a:xfrm>
            <a:off x="777240" y="32735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https://arxiv.org/abs/2004.04906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724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Cited for embedding model selection and cosine similarity scoring approach.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2779776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36592" y="2871216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6592" y="28712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[6]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0640" y="2852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Anthropic. (2024). Claude Model Card and Acceptable Use Policy.</a:t>
            </a:r>
            <a:endParaRPr lang="en-US" sz="850" dirty="0"/>
          </a:p>
        </p:txBody>
      </p:sp>
      <p:sp>
        <p:nvSpPr>
          <p:cNvPr id="39" name="Text 37">
            <a:hlinkClick r:id="rId8"/>
          </p:cNvPr>
          <p:cNvSpPr/>
          <p:nvPr/>
        </p:nvSpPr>
        <p:spPr>
          <a:xfrm>
            <a:off x="5120640" y="32735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https://www.anthropic.com/claude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2064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Foundation model documentation; cited for model selection, Constitutional AI rationale, API policy.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3858768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3192" y="3950208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3192" y="39502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[7]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772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Reimers, N. &amp; Gurevych, I. (2019). Sentence-BERT: Sentence Embeddings using Siamese BERT-Networks. EMNLP 2019.</a:t>
            </a:r>
            <a:endParaRPr lang="en-US" sz="850" dirty="0"/>
          </a:p>
        </p:txBody>
      </p:sp>
      <p:sp>
        <p:nvSpPr>
          <p:cNvPr id="45" name="Text 43">
            <a:hlinkClick r:id="rId9"/>
          </p:cNvPr>
          <p:cNvSpPr/>
          <p:nvPr/>
        </p:nvSpPr>
        <p:spPr>
          <a:xfrm>
            <a:off x="777240" y="43525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0A5FA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https://arxiv.org/abs/1908.10084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7724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Original paper for sentence-transformers/all-MiniLM-L6-v2 embedding model.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3858768"/>
            <a:ext cx="41605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36592" y="3950208"/>
            <a:ext cx="3200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36592" y="39502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A5FA"/>
                </a:solidFill>
              </a:rPr>
              <a:t>[8]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20640" y="3931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Finger, L. (2026). AI Model Development Checklist. eCornell / Cornell University.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2064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Course rubric used as evaluation framework for all four capstone stages.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2298</Words>
  <Application>Microsoft Macintosh PowerPoint</Application>
  <PresentationFormat>On-screen Show (16:9)</PresentationFormat>
  <Paragraphs>323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Service Intelligence Assistant — TBH-20</dc:title>
  <dc:subject>PptxGenJS Presentation</dc:subject>
  <dc:creator>PptxGenJS</dc:creator>
  <cp:lastModifiedBy>Nishchay Vishwanath</cp:lastModifiedBy>
  <cp:revision>2</cp:revision>
  <dcterms:created xsi:type="dcterms:W3CDTF">2026-04-04T02:39:33Z</dcterms:created>
  <dcterms:modified xsi:type="dcterms:W3CDTF">2026-04-04T02:47:26Z</dcterms:modified>
</cp:coreProperties>
</file>