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960120" cy="292608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1188"/>
            <a:ext cx="9601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60A5FA"/>
                </a:solidFill>
                <a:latin typeface="Aptos"/>
              </a:rPr>
              <a:t>Cornell MEM ·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66928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  <a:latin typeface="Aptos"/>
              </a:rPr>
              <a:t>Site Intelligence
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A RAG-Based Context Retrieval System for Frontline Field Workers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55778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971800"/>
            <a:ext cx="5212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"Field technicians make safety-critical decisions with the wrong information.
This system fixes the retrieval and trust problem."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097280"/>
            <a:ext cx="4709160" cy="33375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1261872"/>
            <a:ext cx="448970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[Image Placeholder] Hero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2" y="1627632"/>
            <a:ext cx="4379976" cy="26243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Suggested visual: technician in the field using a tablet, with manuals and safety documents fading into a single answer 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85232"/>
            <a:ext cx="102412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ptos"/>
              </a:rPr>
              <a:t>Nishchay Vishwanath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Aptos"/>
              </a:rPr>
              <a:t>The Business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471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55778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3949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212080" cy="1508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Technicians make high-stakes decisions under time pressure.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The needed information exists, but it is scattered across manuals, OSHA docs, and office systems.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This is mainly a retrieval and trust problem, not a raw data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88920"/>
            <a:ext cx="52120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834640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Who It Affects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63240"/>
            <a:ext cx="48463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Technicians: incomplete info and higher error risk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Dispatchers: avoidable escalations and interruptions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Companies: liability, safety violations, and wasted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914400"/>
            <a:ext cx="54406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960120"/>
            <a:ext cx="5257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Current State vs.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507492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Today: technician calls office, dispatcher searches records, then calls back.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With this system: technician asks on-site and gets a cited answer in seconds.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5074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Aptos"/>
              </a:rPr>
              <a:t>Resolution time: 4 to 12 minutes today vs. under 8 seconds with the assistant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926080"/>
            <a:ext cx="5440680" cy="292608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3090672"/>
            <a:ext cx="522122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[Image Placeholder] Before / after process graphic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456432"/>
            <a:ext cx="5111496" cy="22128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Suggested visual: split image showing dispatcher callback workflow on one side and instant assistant response on the other.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Sources: Project brief assumptions; field workflow framing from project documentation.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36792"/>
            <a:ext cx="457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Aptos"/>
              </a:rPr>
              <a:t>The AI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471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53035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120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Why AI and Why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49834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A technician cannot cross-reference OSHA rules, multiple manual versions, and job history fast enough by hand.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A plain chatbot cannot see private job records and may answer without sources or calibrated confidence.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RAG grounds the answer in retrieved documents so the corpus stays the source of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926080"/>
            <a:ext cx="49834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971800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Feasible 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46120"/>
            <a:ext cx="46634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OSHA 29 CFR 1910 and the Field Operations Manual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Carrier, Trane, and Lennox manuals from public manufacturer sites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Synthetic job history generated for the prototype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914400"/>
            <a:ext cx="5669280" cy="49377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078992"/>
            <a:ext cx="544982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[Image Placeholder] RAG concept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444752"/>
            <a:ext cx="5340096" cy="42245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Suggested visual: query -&gt; retrieval over OSHA/manuals/job history -&gt; grounded answer with citations.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Sources: Lewis et al. 2020; Gao et al. 2023; OSHA directives; manufacturer documentation.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36792"/>
            <a:ext cx="457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Aptos"/>
              </a:rPr>
              <a:t>Evaluation: "Moving Fast Without Breaking Trust"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471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653796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6355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Evaluation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612648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Ground truth: known-answer questions to test accuracy and coverage.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Adversarial: prompts with no answer in the corpus to test hallucination resistance.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Contradictions: prompts where sources disagree to test PARTIAL routing and conflict surfacing.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83280"/>
            <a:ext cx="61264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943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Target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571500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Hallucination rate below 2%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Coverage above 80%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Escalation rate intentionally non-zero to reflect uncertainty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High source precision on cited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914400"/>
            <a:ext cx="4434840" cy="44805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9208" y="1078992"/>
            <a:ext cx="42153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[Image Placeholder] Metrics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34072" y="1444752"/>
            <a:ext cx="4105656" cy="37673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Suggested visual: bar or scorecard for coverage, escalation, hallucination rate, and source precision.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Sources: Evaluation plan; RAG reliability and calibrated confidence framing.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36792"/>
            <a:ext cx="457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Aptos"/>
              </a:rPr>
              <a:t>Consistency Testing, A/B Design, and Preference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471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3703320" cy="5212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35204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Consistency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338328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Run the same factual queries multiple times in separate sessions.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Measure output variance and trigger retrieval audits when answers drift too much.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914400"/>
            <a:ext cx="3657600" cy="5212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960120"/>
            <a:ext cx="34747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A/B Test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234440"/>
            <a:ext cx="333756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Variant A: answer plus citations only.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Variant B: answer plus HIGH / PARTIAL / LOW confidence language.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Hypothesis: visible uncertainty improves appropriate reliance.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914400"/>
            <a:ext cx="3749039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960120"/>
            <a:ext cx="356615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Preference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1234440"/>
            <a:ext cx="342900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Dispatcher overrides become labeled feedback.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Those logs later become preference pairs for DPO fine-tuning.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840480"/>
            <a:ext cx="3749039" cy="228600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7" y="4005072"/>
            <a:ext cx="3529583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[Image Placeholder] Feedback loop visual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4370832"/>
            <a:ext cx="3419855" cy="15727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Suggested visual: system answer -&gt; dispatcher override -&gt; labeled pair -&gt; next model version.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Sources: Human factors framing from project slides; DPO roadmap described in current slides.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36792"/>
            <a:ext cx="457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Aptos"/>
              </a:rPr>
              <a:t>Architecture: The Four-Layer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471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5146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2295144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Layer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37360"/>
            <a:ext cx="2295144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E2E8F0"/>
                </a:solidFill>
                <a:latin typeface="Aptos"/>
              </a:rPr>
              <a:t>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029968"/>
            <a:ext cx="2221992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Embed query and retrieve top matches across collections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1325880"/>
            <a:ext cx="25146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490472"/>
            <a:ext cx="2295144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Layer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737360"/>
            <a:ext cx="2295144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E2E8F0"/>
                </a:solidFill>
                <a:latin typeface="Aptos"/>
              </a:rPr>
              <a:t>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5536" y="2029968"/>
            <a:ext cx="2221992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Assign HIGH, PARTIAL, or LOW from scores and conflicts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95544" y="1325880"/>
            <a:ext cx="25146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05272" y="1490472"/>
            <a:ext cx="2295144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Layer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5272" y="1737360"/>
            <a:ext cx="2295144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E2E8F0"/>
                </a:solidFill>
                <a:latin typeface="Aptos"/>
              </a:rPr>
              <a:t>Degradation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2029968"/>
            <a:ext cx="2221992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Choose answer, warning, or escalation behavior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325880"/>
            <a:ext cx="25146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1490472"/>
            <a:ext cx="2295144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Layer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4" y="1737360"/>
            <a:ext cx="2295144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E2E8F0"/>
                </a:solidFill>
                <a:latin typeface="Aptos"/>
              </a:rPr>
              <a:t>LLM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029968"/>
            <a:ext cx="2221992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Generate only when context is strong enough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63240"/>
            <a:ext cx="75438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08960"/>
            <a:ext cx="73609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Confidence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01568"/>
            <a:ext cx="713232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HIGH: strong match and no conflict -&gt; cited answer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PARTIAL: weaker evidence or source conflict -&gt; answer plus warning and surfaced conflict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LOW: weak or missing context -&gt; skip the LLM and escalate programmatically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063240"/>
            <a:ext cx="3474720" cy="228600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3227832"/>
            <a:ext cx="325526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[Image Placeholder] Pipeline diagram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3593592"/>
            <a:ext cx="3145536" cy="15727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Suggested visual: horizontal flow with color-coded HIGH / PARTIAL / LOW routes.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355080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Sources: Project architecture from README, CLAUDE.md, and slide deck content.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36792"/>
            <a:ext cx="457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Aptos"/>
              </a:rPr>
              <a:t>Context and Memory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471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557784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3949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What Goes Into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25780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System prompt: cite sources, do not fabricate, flag safety-sensitive procedures.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Retrieved chunks: top results with collection, document name, and similarity score.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Technician query: equipment, job context, and natural language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54680"/>
            <a:ext cx="52578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200400"/>
            <a:ext cx="50749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Memory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93008"/>
            <a:ext cx="49377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Working memory: retrieved chunks for this single query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Institutional memory: job_history collection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Semantic memory: OSHA and manuals collections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Session memory: stateless in v1, possible in 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914400"/>
            <a:ext cx="5394960" cy="512064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078992"/>
            <a:ext cx="517550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[Image Placeholder] Memory architecture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444752"/>
            <a:ext cx="5065776" cy="44074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Suggested visual: stacked memory model showing query context, semantic docs, and institutional job history.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Sources: Project system prompt and collection design from repository docs and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36792"/>
            <a:ext cx="457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Aptos"/>
              </a:rPr>
              <a:t>Guardrails and AI Concept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471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530352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120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498348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Citation requirement on every answer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Prompt-level hallucination prevention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Explicit safety flagging for risky procedures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Scope boundary for off-topic or weak-context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0480"/>
            <a:ext cx="49834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886200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Design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46634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ACC15"/>
                </a:solidFill>
                <a:latin typeface="Aptos"/>
              </a:rPr>
              <a:t>In a safety-critical context, a confident wrong answer is worse than an unnecessary escalation.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914400"/>
            <a:ext cx="5715000" cy="512064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078992"/>
            <a:ext cx="549554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[Image Placeholder] Concept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444752"/>
            <a:ext cx="5385816" cy="44074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Suggested visual: map RAG, memories, tools/MCP, fine-tuning, and preference optimization to where they live in the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Sources: Guardrails and concept mapping from current deck content and project docs.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36792"/>
            <a:ext cx="457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Aptos"/>
              </a:rPr>
              <a:t>Cost Model for 100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471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512064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49377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Operating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480060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100 technicians, 10 queries per day, 250 workdays per year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About 250,000 annual queries, with LOW-routed cases skipping the LLM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Local Chroma and local embeddings keep infrastructure cost 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914400"/>
            <a:ext cx="5897880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960120"/>
            <a:ext cx="5715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Monthly Cost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234440"/>
            <a:ext cx="553212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Claude API input and output: roughly $150 per month combined in the current assumptions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Local vector DB and local embeddings: effectively $0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Hosting estimate: roughly $75 to $100 per month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Total estimate: about $280 to $350 per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4160520"/>
            <a:ext cx="5897880" cy="1874519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4325112"/>
            <a:ext cx="567842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[Image Placeholder] Cost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2" y="4690872"/>
            <a:ext cx="5568696" cy="11612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Suggested visual: stacked bar for API, hosting, and infrastructure cost categories.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Sources: Cost model; Claude pricing should be verified against current Anthropic pricing page before final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36792"/>
            <a:ext cx="457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Aptos"/>
              </a:rPr>
              <a:t>Claude vs. Llama 3 70B: Break-Even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471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662940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64465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630936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Claude wins early on simplicity, no GPU infrastructure, and immediate quality.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Self-hosted Llama becomes more attractive at higher query volume and after collecting enough labeled preference data.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The current architecture stays model-agnostic so migration is operationally simpler.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06240"/>
            <a:ext cx="6309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Aptos"/>
              </a:rPr>
              <a:t>Break-even claim in the current deck: roughly 55,000 to 60,000 queries per month (about 550 users).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914400"/>
            <a:ext cx="4389120" cy="512064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8" y="1078992"/>
            <a:ext cx="416966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[Image Placeholder] Break-even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1444752"/>
            <a:ext cx="4059936" cy="44074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Suggested visual: two cost lines crossing over as usage grows, with the break-even point labeled.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Sources: Cost model plus self-hosted vs API tradeoff framing from the current deck.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36792"/>
            <a:ext cx="457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Aptos"/>
              </a:rPr>
              <a:t>Revenue Model and Key Tradeoffs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471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548640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3035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Revenue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166360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Per-seat SaaS pricing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Per-query pricing</a:t>
            </a:r>
          </a:p>
          <a:p>
            <a:pPr>
              <a:defRPr sz="1400">
                <a:solidFill>
                  <a:srgbClr val="E2E8F0"/>
                </a:solidFill>
                <a:latin typeface="Aptos"/>
              </a:defRPr>
            </a:pPr>
            <a:r>
              <a:t>Enterprise fleet license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80360"/>
            <a:ext cx="51663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926080"/>
            <a:ext cx="4983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Tradeoffs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18688"/>
            <a:ext cx="484632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Precision vs. escalation rate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Corpus freshness vs. operating cost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API dependency vs. on-prem control</a:t>
            </a:r>
          </a:p>
          <a:p>
            <a:pPr>
              <a:defRPr sz="1300">
                <a:solidFill>
                  <a:srgbClr val="E2E8F0"/>
                </a:solidFill>
                <a:latin typeface="Aptos"/>
              </a:defRPr>
            </a:pPr>
            <a:r>
              <a:t>Fine-tuning ROI vs. 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914400"/>
            <a:ext cx="5486400" cy="274320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078992"/>
            <a:ext cx="526694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[Image Placeholder] ROI graphic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444752"/>
            <a:ext cx="5157216" cy="20299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Suggested visual: value equation linking fewer incidents, faster resolution, and lower dispatcher load to customer ROI.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486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977640"/>
            <a:ext cx="53035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Core 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43400"/>
            <a:ext cx="51206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The product is valuable because it answers quickly when it should, and escalates clearly when it should not pretend to know.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Sources: Business model framing from the current deck.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36792"/>
            <a:ext cx="457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Aptos"/>
              </a:rPr>
              <a:t>Sources, Citations,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471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201400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185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Reference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34440"/>
            <a:ext cx="1078992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Aptos"/>
              </a:defRPr>
            </a:pPr>
            <a:r>
              <a:t>Lewis, P. et al. Retrieval-Augmented Generation for Knowledge-Intensive NLP Tasks. NeurIPS 2020. https://arxiv.org/abs/2005.11401</a:t>
            </a:r>
          </a:p>
          <a:p>
            <a:pPr>
              <a:defRPr sz="1200">
                <a:solidFill>
                  <a:srgbClr val="E2E8F0"/>
                </a:solidFill>
                <a:latin typeface="Aptos"/>
              </a:defRPr>
            </a:pPr>
            <a:r>
              <a:t>Gao, Y. et al. Retrieval-Augmented Generation for Large Language Models: A Survey. 2023. https://arxiv.org/abs/2312.10997</a:t>
            </a:r>
          </a:p>
          <a:p>
            <a:pPr>
              <a:defRPr sz="1200">
                <a:solidFill>
                  <a:srgbClr val="E2E8F0"/>
                </a:solidFill>
                <a:latin typeface="Aptos"/>
              </a:defRPr>
            </a:pPr>
            <a:r>
              <a:t>OSHA Field Operations Manual. U.S. Department of Labor. https://www.osha.gov/enforcement/directives/cpl-02-00-164</a:t>
            </a:r>
          </a:p>
          <a:p>
            <a:pPr>
              <a:defRPr sz="1200">
                <a:solidFill>
                  <a:srgbClr val="E2E8F0"/>
                </a:solidFill>
                <a:latin typeface="Aptos"/>
              </a:defRPr>
            </a:pPr>
            <a:r>
              <a:t>OSHA 29 CFR 1910.147 Lockout/Tagout. https://www.osha.gov/laws-regs/regulations/standardnumber/1910/1910.147</a:t>
            </a:r>
          </a:p>
          <a:p>
            <a:pPr>
              <a:defRPr sz="1200">
                <a:solidFill>
                  <a:srgbClr val="E2E8F0"/>
                </a:solidFill>
                <a:latin typeface="Aptos"/>
              </a:defRPr>
            </a:pPr>
            <a:r>
              <a:t>OSHA 29 CFR 1910.303 Electrical, General. https://www.osha.gov/laws-regs/regulations/standardnumber/1910/1910.303</a:t>
            </a:r>
          </a:p>
          <a:p>
            <a:pPr>
              <a:defRPr sz="1200">
                <a:solidFill>
                  <a:srgbClr val="E2E8F0"/>
                </a:solidFill>
                <a:latin typeface="Aptos"/>
              </a:defRPr>
            </a:pPr>
            <a:r>
              <a:t>Anthropic Claude model and pricing pages. Verify latest pricing before presenting cost claims.</a:t>
            </a:r>
          </a:p>
          <a:p>
            <a:pPr>
              <a:defRPr sz="1200">
                <a:solidFill>
                  <a:srgbClr val="E2E8F0"/>
                </a:solidFill>
                <a:latin typeface="Aptos"/>
              </a:defRPr>
            </a:pPr>
            <a:r>
              <a:t>Public manufacturer documentation for Carrier, Trane, and Lennox equipment manuals.</a:t>
            </a:r>
          </a:p>
          <a:p>
            <a:pPr>
              <a:defRPr sz="1200">
                <a:solidFill>
                  <a:srgbClr val="E2E8F0"/>
                </a:solidFill>
                <a:latin typeface="Aptos"/>
              </a:defRPr>
            </a:pPr>
            <a:r>
              <a:t>Project repository sources: README.md, CLAUDE.md, src/assistant.py, src/retriever.py, src/confidence.py, src/degradation.py, and slides/index.html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623560"/>
            <a:ext cx="10789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ACC15"/>
                </a:solidFill>
                <a:latin typeface="Aptos"/>
              </a:rPr>
              <a:t>Note: pricing and any vendor-specific claims should be re-verified before final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